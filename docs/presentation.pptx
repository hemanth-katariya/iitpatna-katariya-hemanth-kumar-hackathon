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d24101a-c5d4-c39b-fee5-914d9f58d19e}">
          <p14:sldIdLst>
            <p14:sldId id="256"/>
            <p14:sldId id="257"/>
          </p14:sldIdLst>
        </p14:section>
        <p14:section name="Design" id="{2eb1a071-961f-0ef0-32bf-4335d45af4e4}">
          <p14:sldIdLst>
            <p14:sldId id="258"/>
            <p14:sldId id="259"/>
          </p14:sldIdLst>
        </p14:section>
        <p14:section name="Results" id="{b0fb8416-36a8-5272-66f8-0992870c6443}">
          <p14:sldIdLst>
            <p14:sldId id="260"/>
            <p14:sldId id="261"/>
          </p14:sldIdLst>
        </p14:section>
        <p14:section name="Close" id="{d7cfaea4-22d3-76a2-90cd-1239d94b5a8a}">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1A2E"/>
                </a:solidFill>
                <a:latin typeface="+mn-lt"/>
              </a:defRPr>
            </a:pPr>
            <a:r>
              <a:rPr sz="1300" b="0" i="0" u="none" strike="noStrike">
                <a:solidFill>
                  <a:srgbClr val="101A2E"/>
                </a:solidFill>
                <a:latin typeface="+mn-lt"/>
              </a:rPr>
              <a:t>Price move that followed, by impact score band</a:t>
            </a:r>
          </a:p>
        </c:rich>
      </c:tx>
      <c:layout/>
      <c:overlay val="0"/>
    </c:title>
    <c:autoTitleDeleted val="0"/>
    <c:plotArea>
      <c:layout/>
      <c:barChart>
        <c:barDir val="col"/>
        <c:grouping val="clustered"/>
        <c:varyColors val="0"/>
        <c:ser>
          <c:idx val="0"/>
          <c:order val="0"/>
          <c:tx>
            <c:strRef>
              <c:f>Sheet1!$B$1</c:f>
              <c:strCache>
                <c:ptCount val="1"/>
                <c:pt idx="0">
                  <c:v>Mean abnormal move (sigma)</c:v>
                </c:pt>
              </c:strCache>
            </c:strRef>
          </c:tx>
          <c:spPr>
            <a:solidFill>
              <a:srgbClr val="1F5FB8"/>
            </a:solidFill>
            <a:effectLst/>
          </c:spPr>
          <c:invertIfNegative val="0"/>
          <c:dLbls>
            <c:numFmt formatCode="0.00" sourceLinked="0"/>
            <c:txPr>
              <a:bodyPr/>
              <a:lstStyle/>
              <a:p>
                <a:pPr>
                  <a:defRPr b="0" i="0" strike="noStrike" sz="1200" u="none">
                    <a:solidFill>
                      <a:srgbClr val="3D4A63"/>
                    </a:solidFill>
                    <a:latin typeface="+mn-lt"/>
                  </a:defRPr>
                </a:pPr>
              </a:p>
            </c:txPr>
            <c:showLegendKey val="0"/>
            <c:showVal val="1"/>
            <c:showCatName val="0"/>
            <c:showSerName val="0"/>
            <c:showPercent val="0"/>
            <c:showBubbleSize val="0"/>
            <c:showLeaderLines val="0"/>
          </c:dLbls>
          <c:cat>
            <c:multiLvlStrRef>
              <c:f>Sheet1!$A$2:$A$5</c:f>
              <c:multiLvlStrCache>
                <c:ptCount val="4"/>
                <c:lvl>
                  <c:pt idx="0">
                    <c:v>1-3</c:v>
                  </c:pt>
                  <c:pt idx="1">
                    <c:v>3-5</c:v>
                  </c:pt>
                  <c:pt idx="2">
                    <c:v>5-7</c:v>
                  </c:pt>
                  <c:pt idx="3">
                    <c:v>7-10</c:v>
                  </c:pt>
                </c:lvl>
              </c:multiLvlStrCache>
            </c:multiLvlStrRef>
          </c:cat>
          <c:val>
            <c:numRef>
              <c:f>Sheet1!$B$2:$B$5</c:f>
              <c:numCache>
                <c:formatCode>General</c:formatCode>
                <c:ptCount val="4"/>
                <c:pt idx="0">
                  <c:v>0.69</c:v>
                </c:pt>
                <c:pt idx="1">
                  <c:v>0.91</c:v>
                </c:pt>
                <c:pt idx="2">
                  <c:v>1.26</c:v>
                </c:pt>
                <c:pt idx="3">
                  <c:v>2.67</c:v>
                </c:pt>
              </c:numCache>
            </c:numRef>
          </c:val>
        </c:ser>
        <c:dLbls>
          <c:numFmt formatCode="0.00" sourceLinked="0"/>
          <c:txPr>
            <a:bodyPr/>
            <a:lstStyle/>
            <a:p>
              <a:pPr>
                <a:defRPr b="0" i="0" strike="noStrike" sz="1200" u="none">
                  <a:solidFill>
                    <a:srgbClr val="3D4A6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3D4A63"/>
                    </a:solidFill>
                    <a:latin typeface="+mn-lt"/>
                  </a:defRPr>
                </a:pPr>
                <a:r>
                  <a:rPr sz="1100" b="0" i="0" u="none" strike="noStrike">
                    <a:solidFill>
                      <a:srgbClr val="3D4A63"/>
                    </a:solidFill>
                    <a:latin typeface="+mn-lt"/>
                  </a:rPr>
                  <a:t>Impact score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D4A63"/>
                </a:solidFill>
                <a:latin typeface="+mn-lt"/>
              </a:defRPr>
            </a:pPr>
            <a:endParaRPr lang="en-US"/>
          </a:p>
        </c:txPr>
        <c:crossAx val="2094734552"/>
        <c:crosses val="autoZero"/>
        <c:auto val="1"/>
        <c:lblAlgn val="ctr"/>
        <c:noMultiLvlLbl val="1"/>
      </c:catAx>
      <c:valAx>
        <c:axId val="2094734552"/>
        <c:scaling>
          <c:orientation val="minMax"/>
          <c:max val="3"/>
        </c:scaling>
        <c:delete val="0"/>
        <c:axPos val="l"/>
        <c:majorGridlines>
          <c:spPr>
            <a:ln w="6350" cap="flat">
              <a:solidFill>
                <a:srgbClr val="DD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D4A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one-line pitch: the engine turns unstructured news and social media into structured, explainable risk signals, then uses them in both downstream modules from the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business problem in your own words, then the approach: every document becomes a signal with three fields. Stress that the impact score is calibrated on realised price moves, and that both modules were built, not just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two source types, adapters to one schema, six engine stages, the signal store and API, then the two modules and the dashboard. The bottom row is offline training and calibration. Replay mode and live mode use the same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of these to talk through in detail. The broker-role rule and the share-of-voice fix both came from looking at real failures in the data, which is worth saying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and one chart. Say clearly what each baseline is. Mention that FinBERT's 97% on Financial PhraseBank is deliberately not shown because it was trained on that data, and that the impact test year was held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B is the stronger story: the engine fired twice, both on genuine stress days, and each loss is split by risk factor, sector and position in the dashboard. Be upfront on Module A: it works as built, the backtest is deliberately conservative (trade at the close of t+1), and the honest finding is that sentiment is coincident with returns. SPY returned +0.7% over the same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limitations yourself before the jury asks. The first one is the most important: the market-scope fit showed no relationship in 2019, so it reuses the single-company coefficients, and a better feed is the first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3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560320"/>
            <a:ext cx="7498080" cy="10058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457200" y="4754880"/>
            <a:ext cx="6858000" cy="274320"/>
          </a:xfrm>
          <a:prstGeom prst="rect">
            <a:avLst/>
          </a:prstGeom>
          <a:noFill/>
          <a:ln/>
        </p:spPr>
        <p:txBody>
          <a:bodyPr wrap="square" lIns="0" tIns="0" rIns="0" bIns="0" rtlCol="0" anchor="ctr"/>
          <a:lstStyle/>
          <a:p>
            <a:pPr indent="0" marL="0">
              <a:buNone/>
            </a:pPr>
            <a:r>
              <a:rPr lang="en-US" sz="1000" dirty="0">
                <a:solidFill>
                  <a:schemeClr val="accent5"/>
                </a:solidFill>
              </a:rPr>
              <a:t>AI/NLP Financial Risk Engine  |  S&amp;P Global &amp; Crisil Campus Hackathon 2026</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lIns="0" tIns="0" rIns="0" bIns="0" rtlCol="0" anchor="t"/>
          <a:lstStyle/>
          <a:p>
            <a:pPr algn="l" indent="0" marL="0">
              <a:buNone/>
            </a:pPr>
            <a:r>
              <a:rPr lang="en-US" sz="4000" b="1" dirty="0">
                <a:solidFill>
                  <a:schemeClr val="bg1"/>
                </a:solidFill>
              </a:rPr>
              <a:t>AI/NLP Financial Risk Engine</a:t>
            </a:r>
            <a:endParaRPr lang="en-US" sz="4000" dirty="0"/>
          </a:p>
        </p:txBody>
      </p:sp>
      <p:sp>
        <p:nvSpPr>
          <p:cNvPr id="3" name="Text 0"/>
          <p:cNvSpPr/>
          <p:nvPr>
            <p:ph idx="101" type="body" hasCustomPrompt="1"/>
          </p:nvPr>
        </p:nvSpPr>
        <p:spPr>
          <a:xfrm>
            <a:off x="548640" y="2560320"/>
            <a:ext cx="7498080" cy="1005840"/>
          </a:xfrm>
          <a:prstGeom prst="rect">
            <a:avLst/>
          </a:prstGeom>
          <a:noFill/>
          <a:ln/>
        </p:spPr>
        <p:txBody>
          <a:bodyPr wrap="square" lIns="0" tIns="0" rIns="0" bIns="0" rtlCol="0" anchor="t"/>
          <a:lstStyle/>
          <a:p>
            <a:pPr algn="l" indent="0" marL="0">
              <a:buNone/>
            </a:pPr>
            <a:r>
              <a:rPr lang="en-US" sz="1800" dirty="0">
                <a:solidFill>
                  <a:schemeClr val="bg2"/>
                </a:solidFill>
              </a:rPr>
              <a:t>From headlines and posts to explainable risk signals, a sentiment-driven index and an event-driven portfolio stress test</a:t>
            </a:r>
            <a:endParaRPr lang="en-US" sz="1800" dirty="0"/>
          </a:p>
        </p:txBody>
      </p:sp>
      <p:sp>
        <p:nvSpPr>
          <p:cNvPr id="4" name="Event"/>
          <p:cNvSpPr txBox="1"/>
          <p:nvPr/>
        </p:nvSpPr>
        <p:spPr>
          <a:xfrm>
            <a:off x="548640" y="685800"/>
            <a:ext cx="7315200" cy="274320"/>
          </a:xfrm>
          <a:prstGeom prst="rect">
            <a:avLst/>
          </a:prstGeom>
          <a:noFill/>
          <a:ln/>
        </p:spPr>
        <p:txBody>
          <a:bodyPr wrap="square" lIns="0" tIns="0" rIns="0" bIns="0" rtlCol="0" anchor="ctr"/>
          <a:lstStyle/>
          <a:p>
            <a:pPr indent="0" marL="0">
              <a:buNone/>
            </a:pPr>
            <a:r>
              <a:rPr lang="en-US" sz="1200" b="1" spc="300" kern="0" dirty="0">
                <a:solidFill>
                  <a:schemeClr val="accent4"/>
                </a:solidFill>
              </a:rPr>
              <a:t>S&amp;P GLOBAL &amp; CRISIL CAMPUS HACKATHON 2026</a:t>
            </a:r>
            <a:endParaRPr lang="en-US" sz="1200" dirty="0"/>
          </a:p>
        </p:txBody>
      </p:sp>
      <p:sp>
        <p:nvSpPr>
          <p:cNvPr id="5" name="Candidate"/>
          <p:cNvSpPr txBox="1"/>
          <p:nvPr/>
        </p:nvSpPr>
        <p:spPr>
          <a:xfrm>
            <a:off x="548640" y="3931920"/>
            <a:ext cx="7315200" cy="640080"/>
          </a:xfrm>
          <a:prstGeom prst="rect">
            <a:avLst/>
          </a:prstGeom>
          <a:noFill/>
          <a:ln/>
        </p:spPr>
        <p:txBody>
          <a:bodyPr wrap="square" lIns="0" tIns="0" rIns="0" bIns="0" rtlCol="0" anchor="t"/>
          <a:lstStyle/>
          <a:p>
            <a:pPr indent="0" marL="0">
              <a:buNone/>
            </a:pPr>
            <a:r>
              <a:rPr lang="en-US" sz="1600" b="1" dirty="0">
                <a:solidFill>
                  <a:schemeClr val="bg1"/>
                </a:solidFill>
              </a:rPr>
              <a:t>[Your Full Name]</a:t>
            </a:r>
            <a:endParaRPr lang="en-US" sz="1600" dirty="0"/>
          </a:p>
          <a:p>
            <a:pPr indent="0" marL="0">
              <a:buNone/>
            </a:pPr>
            <a:r>
              <a:rPr lang="en-US" sz="1600" dirty="0">
                <a:solidFill>
                  <a:schemeClr val="bg1"/>
                </a:solidFill>
              </a:rPr>
              <a:t>[Your College Name]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Risk news never reaches the portfolio</a:t>
            </a:r>
            <a:endParaRPr lang="en-US" sz="2800" dirty="0"/>
          </a:p>
        </p:txBody>
      </p:sp>
      <p:sp>
        <p:nvSpPr>
          <p:cNvPr id="3" name="Problem heading"/>
          <p:cNvSpPr txBox="1"/>
          <p:nvPr/>
        </p:nvSpPr>
        <p:spPr>
          <a:xfrm>
            <a:off x="457200" y="1097280"/>
            <a:ext cx="3657600" cy="320040"/>
          </a:xfrm>
          <a:prstGeom prst="rect">
            <a:avLst/>
          </a:prstGeom>
          <a:noFill/>
          <a:ln/>
        </p:spPr>
        <p:txBody>
          <a:bodyPr wrap="square" lIns="0" tIns="0" rIns="0" bIns="0" rtlCol="0" anchor="ctr"/>
          <a:lstStyle/>
          <a:p>
            <a:pPr indent="0" marL="0">
              <a:buNone/>
            </a:pPr>
            <a:r>
              <a:rPr lang="en-US" sz="1800" b="1" dirty="0">
                <a:solidFill>
                  <a:schemeClr val="accent2"/>
                </a:solidFill>
              </a:rPr>
              <a:t>The problem</a:t>
            </a:r>
            <a:endParaRPr lang="en-US" sz="1800" dirty="0"/>
          </a:p>
        </p:txBody>
      </p:sp>
      <p:sp>
        <p:nvSpPr>
          <p:cNvPr id="4" name="Problem points"/>
          <p:cNvSpPr txBox="1"/>
          <p:nvPr/>
        </p:nvSpPr>
        <p:spPr>
          <a:xfrm>
            <a:off x="457200" y="1463040"/>
            <a:ext cx="365760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Analysts scan thousands of headlines and posts a day; coverage is slow and inconsistent</a:t>
            </a:r>
            <a:endParaRPr lang="en-US" sz="1500" dirty="0"/>
          </a:p>
          <a:p>
            <a:pPr marL="342900" indent="-342900">
              <a:spcAft>
                <a:spcPts val="1000"/>
              </a:spcAft>
              <a:buSzPct val="100000"/>
              <a:buChar char="•"/>
            </a:pPr>
            <a:r>
              <a:rPr lang="en-US" sz="1500" dirty="0">
                <a:solidFill>
                  <a:schemeClr val="tx2"/>
                </a:solidFill>
              </a:rPr>
              <a:t>A sentiment number alone does not say what happened or how much it matters</a:t>
            </a:r>
            <a:endParaRPr lang="en-US" sz="1500" dirty="0"/>
          </a:p>
          <a:p>
            <a:pPr marL="342900" indent="-342900">
              <a:spcAft>
                <a:spcPts val="1000"/>
              </a:spcAft>
              <a:buSzPct val="100000"/>
              <a:buChar char="•"/>
            </a:pPr>
            <a:r>
              <a:rPr lang="en-US" sz="1500" dirty="0">
                <a:solidFill>
                  <a:schemeClr val="tx2"/>
                </a:solidFill>
              </a:rPr>
              <a:t>A score nobody can explain will not pass model validation</a:t>
            </a:r>
            <a:endParaRPr lang="en-US" sz="1500" dirty="0"/>
          </a:p>
        </p:txBody>
      </p:sp>
      <p:sp>
        <p:nvSpPr>
          <p:cNvPr id="5" name="Approach heading"/>
          <p:cNvSpPr txBox="1"/>
          <p:nvPr/>
        </p:nvSpPr>
        <p:spPr>
          <a:xfrm>
            <a:off x="4572000" y="1097280"/>
            <a:ext cx="4114800" cy="320040"/>
          </a:xfrm>
          <a:prstGeom prst="rect">
            <a:avLst/>
          </a:prstGeom>
          <a:noFill/>
          <a:ln/>
        </p:spPr>
        <p:txBody>
          <a:bodyPr wrap="square" lIns="0" tIns="0" rIns="0" bIns="0" rtlCol="0" anchor="ctr"/>
          <a:lstStyle/>
          <a:p>
            <a:pPr indent="0" marL="0">
              <a:buNone/>
            </a:pPr>
            <a:r>
              <a:rPr lang="en-US" sz="1800" b="1" dirty="0">
                <a:solidFill>
                  <a:schemeClr val="accent1"/>
                </a:solidFill>
              </a:rPr>
              <a:t>One engine, three fields per signal</a:t>
            </a:r>
            <a:endParaRPr lang="en-US" sz="1800" dirty="0"/>
          </a:p>
        </p:txBody>
      </p:sp>
      <p:sp>
        <p:nvSpPr>
          <p:cNvPr id="6" name="Field card 1"/>
          <p:cNvSpPr/>
          <p:nvPr/>
        </p:nvSpPr>
        <p:spPr>
          <a:xfrm>
            <a:off x="4572000" y="1554480"/>
            <a:ext cx="4114800" cy="658368"/>
          </a:xfrm>
          <a:prstGeom prst="roundRect">
            <a:avLst>
              <a:gd name="adj" fmla="val 11111"/>
            </a:avLst>
          </a:prstGeom>
          <a:solidFill>
            <a:schemeClr val="bg2"/>
          </a:solidFill>
          <a:ln w="12700">
            <a:solidFill>
              <a:schemeClr val="bg2"/>
            </a:solidFill>
            <a:prstDash val="solid"/>
          </a:ln>
        </p:spPr>
      </p:sp>
      <p:sp>
        <p:nvSpPr>
          <p:cNvPr id="7" name="Badge 1"/>
          <p:cNvSpPr/>
          <p:nvPr/>
        </p:nvSpPr>
        <p:spPr>
          <a:xfrm>
            <a:off x="4709160" y="1691640"/>
            <a:ext cx="384048" cy="384048"/>
          </a:xfrm>
          <a:prstGeom prst="ellipse">
            <a:avLst/>
          </a:prstGeom>
          <a:solidFill>
            <a:schemeClr val="accent1"/>
          </a:solidFill>
          <a:ln w="12700">
            <a:solidFill>
              <a:schemeClr val="accent1"/>
            </a:solidFill>
            <a:prstDash val="solid"/>
          </a:ln>
        </p:spPr>
      </p:sp>
      <p:sp>
        <p:nvSpPr>
          <p:cNvPr id="8" name="Badge 1 number"/>
          <p:cNvSpPr txBox="1"/>
          <p:nvPr/>
        </p:nvSpPr>
        <p:spPr>
          <a:xfrm>
            <a:off x="4709160" y="16916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Field text 1"/>
          <p:cNvSpPr txBox="1"/>
          <p:nvPr/>
        </p:nvSpPr>
        <p:spPr>
          <a:xfrm>
            <a:off x="5230368" y="1554480"/>
            <a:ext cx="3383280" cy="658368"/>
          </a:xfrm>
          <a:prstGeom prst="rect">
            <a:avLst/>
          </a:prstGeom>
          <a:noFill/>
          <a:ln/>
        </p:spPr>
        <p:txBody>
          <a:bodyPr wrap="square" lIns="0" tIns="0" rIns="0" bIns="0" rtlCol="0" anchor="ctr"/>
          <a:lstStyle/>
          <a:p>
            <a:pPr indent="0" marL="0">
              <a:buNone/>
            </a:pPr>
            <a:r>
              <a:rPr lang="en-US" sz="1400" b="1" dirty="0">
                <a:solidFill>
                  <a:schemeClr val="tx1"/>
                </a:solidFill>
              </a:rPr>
              <a:t>Sentiment score</a:t>
            </a:r>
            <a:endParaRPr lang="en-US" sz="1400" dirty="0"/>
          </a:p>
          <a:p>
            <a:pPr indent="0" marL="0">
              <a:buNone/>
            </a:pPr>
            <a:r>
              <a:rPr lang="en-US" sz="1400" dirty="0">
                <a:solidFill>
                  <a:schemeClr val="tx2"/>
                </a:solidFill>
              </a:rPr>
              <a:t>-1 to 1, from FinBERT</a:t>
            </a:r>
            <a:endParaRPr lang="en-US" sz="1400" dirty="0"/>
          </a:p>
        </p:txBody>
      </p:sp>
      <p:sp>
        <p:nvSpPr>
          <p:cNvPr id="10" name="Field card 2"/>
          <p:cNvSpPr/>
          <p:nvPr/>
        </p:nvSpPr>
        <p:spPr>
          <a:xfrm>
            <a:off x="4572000" y="2331720"/>
            <a:ext cx="4114800" cy="658368"/>
          </a:xfrm>
          <a:prstGeom prst="roundRect">
            <a:avLst>
              <a:gd name="adj" fmla="val 11111"/>
            </a:avLst>
          </a:prstGeom>
          <a:solidFill>
            <a:schemeClr val="bg2"/>
          </a:solidFill>
          <a:ln w="12700">
            <a:solidFill>
              <a:schemeClr val="bg2"/>
            </a:solidFill>
            <a:prstDash val="solid"/>
          </a:ln>
        </p:spPr>
      </p:sp>
      <p:sp>
        <p:nvSpPr>
          <p:cNvPr id="11" name="Badge 2"/>
          <p:cNvSpPr/>
          <p:nvPr/>
        </p:nvSpPr>
        <p:spPr>
          <a:xfrm>
            <a:off x="4709160" y="2468880"/>
            <a:ext cx="384048" cy="384048"/>
          </a:xfrm>
          <a:prstGeom prst="ellipse">
            <a:avLst/>
          </a:prstGeom>
          <a:solidFill>
            <a:schemeClr val="accent1"/>
          </a:solidFill>
          <a:ln w="12700">
            <a:solidFill>
              <a:schemeClr val="accent1"/>
            </a:solidFill>
            <a:prstDash val="solid"/>
          </a:ln>
        </p:spPr>
      </p:sp>
      <p:sp>
        <p:nvSpPr>
          <p:cNvPr id="12" name="Badge 2 number"/>
          <p:cNvSpPr txBox="1"/>
          <p:nvPr/>
        </p:nvSpPr>
        <p:spPr>
          <a:xfrm>
            <a:off x="4709160" y="2468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Field text 2"/>
          <p:cNvSpPr txBox="1"/>
          <p:nvPr/>
        </p:nvSpPr>
        <p:spPr>
          <a:xfrm>
            <a:off x="5230368" y="2331720"/>
            <a:ext cx="3383280" cy="658368"/>
          </a:xfrm>
          <a:prstGeom prst="rect">
            <a:avLst/>
          </a:prstGeom>
          <a:noFill/>
          <a:ln/>
        </p:spPr>
        <p:txBody>
          <a:bodyPr wrap="square" lIns="0" tIns="0" rIns="0" bIns="0" rtlCol="0" anchor="ctr"/>
          <a:lstStyle/>
          <a:p>
            <a:pPr indent="0" marL="0">
              <a:buNone/>
            </a:pPr>
            <a:r>
              <a:rPr lang="en-US" sz="1400" b="1" dirty="0">
                <a:solidFill>
                  <a:schemeClr val="tx1"/>
                </a:solidFill>
              </a:rPr>
              <a:t>Event classification</a:t>
            </a:r>
            <a:endParaRPr lang="en-US" sz="1400" dirty="0"/>
          </a:p>
          <a:p>
            <a:pPr indent="0" marL="0">
              <a:buNone/>
            </a:pPr>
            <a:r>
              <a:rPr lang="en-US" sz="1400" dirty="0">
                <a:solidFill>
                  <a:schemeClr val="tx2"/>
                </a:solidFill>
              </a:rPr>
              <a:t>11 event types, from geopolitical to credit event</a:t>
            </a:r>
            <a:endParaRPr lang="en-US" sz="1400" dirty="0"/>
          </a:p>
        </p:txBody>
      </p:sp>
      <p:sp>
        <p:nvSpPr>
          <p:cNvPr id="14" name="Field card 3"/>
          <p:cNvSpPr/>
          <p:nvPr/>
        </p:nvSpPr>
        <p:spPr>
          <a:xfrm>
            <a:off x="4572000" y="3108960"/>
            <a:ext cx="4114800" cy="658368"/>
          </a:xfrm>
          <a:prstGeom prst="roundRect">
            <a:avLst>
              <a:gd name="adj" fmla="val 11111"/>
            </a:avLst>
          </a:prstGeom>
          <a:solidFill>
            <a:schemeClr val="bg2"/>
          </a:solidFill>
          <a:ln w="12700">
            <a:solidFill>
              <a:schemeClr val="bg2"/>
            </a:solidFill>
            <a:prstDash val="solid"/>
          </a:ln>
        </p:spPr>
      </p:sp>
      <p:sp>
        <p:nvSpPr>
          <p:cNvPr id="15" name="Badge 3"/>
          <p:cNvSpPr/>
          <p:nvPr/>
        </p:nvSpPr>
        <p:spPr>
          <a:xfrm>
            <a:off x="4709160" y="3246120"/>
            <a:ext cx="384048" cy="384048"/>
          </a:xfrm>
          <a:prstGeom prst="ellipse">
            <a:avLst/>
          </a:prstGeom>
          <a:solidFill>
            <a:schemeClr val="accent1"/>
          </a:solidFill>
          <a:ln w="12700">
            <a:solidFill>
              <a:schemeClr val="accent1"/>
            </a:solidFill>
            <a:prstDash val="solid"/>
          </a:ln>
        </p:spPr>
      </p:sp>
      <p:sp>
        <p:nvSpPr>
          <p:cNvPr id="16" name="Badge 3 number"/>
          <p:cNvSpPr txBox="1"/>
          <p:nvPr/>
        </p:nvSpPr>
        <p:spPr>
          <a:xfrm>
            <a:off x="4709160" y="324612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Field text 3"/>
          <p:cNvSpPr txBox="1"/>
          <p:nvPr/>
        </p:nvSpPr>
        <p:spPr>
          <a:xfrm>
            <a:off x="5230368" y="3108960"/>
            <a:ext cx="3383280" cy="658368"/>
          </a:xfrm>
          <a:prstGeom prst="rect">
            <a:avLst/>
          </a:prstGeom>
          <a:noFill/>
          <a:ln/>
        </p:spPr>
        <p:txBody>
          <a:bodyPr wrap="square" lIns="0" tIns="0" rIns="0" bIns="0" rtlCol="0" anchor="ctr"/>
          <a:lstStyle/>
          <a:p>
            <a:pPr indent="0" marL="0">
              <a:buNone/>
            </a:pPr>
            <a:r>
              <a:rPr lang="en-US" sz="1400" b="1" dirty="0">
                <a:solidFill>
                  <a:schemeClr val="tx1"/>
                </a:solidFill>
              </a:rPr>
              <a:t>Impact score</a:t>
            </a:r>
            <a:endParaRPr lang="en-US" sz="1400" dirty="0"/>
          </a:p>
          <a:p>
            <a:pPr indent="0" marL="0">
              <a:buNone/>
            </a:pPr>
            <a:r>
              <a:rPr lang="en-US" sz="1400" dirty="0">
                <a:solidFill>
                  <a:schemeClr val="tx2"/>
                </a:solidFill>
              </a:rPr>
              <a:t>1 to 10, fitted to how far prices really moved</a:t>
            </a:r>
            <a:endParaRPr lang="en-US" sz="1400" dirty="0"/>
          </a:p>
        </p:txBody>
      </p:sp>
      <p:sp>
        <p:nvSpPr>
          <p:cNvPr id="18" name="Modules line"/>
          <p:cNvSpPr txBox="1"/>
          <p:nvPr/>
        </p:nvSpPr>
        <p:spPr>
          <a:xfrm>
            <a:off x="457200" y="4023360"/>
            <a:ext cx="8229600" cy="502920"/>
          </a:xfrm>
          <a:prstGeom prst="rect">
            <a:avLst/>
          </a:prstGeom>
          <a:noFill/>
          <a:ln/>
        </p:spPr>
        <p:txBody>
          <a:bodyPr wrap="square" lIns="0" tIns="0" rIns="0" bIns="0" rtlCol="0" anchor="ctr"/>
          <a:lstStyle/>
          <a:p>
            <a:pPr indent="0" marL="0">
              <a:buNone/>
            </a:pPr>
            <a:r>
              <a:rPr lang="en-US" sz="1400" i="1" dirty="0">
                <a:solidFill>
                  <a:schemeClr val="tx1"/>
                </a:solidFill>
              </a:rPr>
              <a:t>Both downstream modules run on the same signal feed: Module A (index rebalancer) and Module B (portfolio stress test).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From raw text to portfolio impact</a:t>
            </a:r>
            <a:endParaRPr lang="en-US" sz="2800" dirty="0"/>
          </a:p>
        </p:txBody>
      </p:sp>
      <p:pic>
        <p:nvPicPr>
          <p:cNvPr id="3" name="Architecture diagram" descr="Architecture: sources, ingestion adapters, risk engine stages, signal store and API, Module A, Module B and dashboard, with offline training and calibration.">    </p:cNvPr>
          <p:cNvPicPr>
            <a:picLocks noChangeAspect="1"/>
          </p:cNvPicPr>
          <p:nvPr/>
        </p:nvPicPr>
        <p:blipFill>
          <a:blip r:embed="rId1"/>
          <a:stretch>
            <a:fillRect/>
          </a:stretch>
        </p:blipFill>
        <p:spPr>
          <a:xfrm>
            <a:off x="1261872" y="1005840"/>
            <a:ext cx="6620256" cy="365760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Four choices that make signals trustworthy</a:t>
            </a:r>
            <a:endParaRPr lang="en-US" sz="2800" dirty="0"/>
          </a:p>
        </p:txBody>
      </p:sp>
      <p:sp>
        <p:nvSpPr>
          <p:cNvPr id="3" name="Choice card 1"/>
          <p:cNvSpPr/>
          <p:nvPr/>
        </p:nvSpPr>
        <p:spPr>
          <a:xfrm>
            <a:off x="457200" y="1143000"/>
            <a:ext cx="4023360" cy="1554480"/>
          </a:xfrm>
          <a:prstGeom prst="roundRect">
            <a:avLst>
              <a:gd name="adj" fmla="val 4706"/>
            </a:avLst>
          </a:prstGeom>
          <a:solidFill>
            <a:schemeClr val="bg2"/>
          </a:solidFill>
          <a:ln w="12700">
            <a:solidFill>
              <a:schemeClr val="bg2"/>
            </a:solidFill>
            <a:prstDash val="solid"/>
          </a:ln>
        </p:spPr>
      </p:sp>
      <p:sp>
        <p:nvSpPr>
          <p:cNvPr id="4" name="Badge 1"/>
          <p:cNvSpPr/>
          <p:nvPr/>
        </p:nvSpPr>
        <p:spPr>
          <a:xfrm>
            <a:off x="640080" y="1325880"/>
            <a:ext cx="384048" cy="384048"/>
          </a:xfrm>
          <a:prstGeom prst="ellipse">
            <a:avLst/>
          </a:prstGeom>
          <a:solidFill>
            <a:schemeClr val="accent1"/>
          </a:solidFill>
          <a:ln w="12700">
            <a:solidFill>
              <a:schemeClr val="accent1"/>
            </a:solidFill>
            <a:prstDash val="solid"/>
          </a:ln>
        </p:spPr>
      </p:sp>
      <p:sp>
        <p:nvSpPr>
          <p:cNvPr id="5" name="Badge 1 number"/>
          <p:cNvSpPr txBox="1"/>
          <p:nvPr/>
        </p:nvSpPr>
        <p:spPr>
          <a:xfrm>
            <a:off x="640080" y="1325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Choice title 1"/>
          <p:cNvSpPr txBox="1"/>
          <p:nvPr/>
        </p:nvSpPr>
        <p:spPr>
          <a:xfrm>
            <a:off x="1170432" y="1325880"/>
            <a:ext cx="3154680" cy="384048"/>
          </a:xfrm>
          <a:prstGeom prst="rect">
            <a:avLst/>
          </a:prstGeom>
          <a:noFill/>
          <a:ln/>
        </p:spPr>
        <p:txBody>
          <a:bodyPr wrap="square" lIns="0" tIns="0" rIns="0" bIns="0" rtlCol="0" anchor="ctr"/>
          <a:lstStyle/>
          <a:p>
            <a:pPr indent="0" marL="0">
              <a:buNone/>
            </a:pPr>
            <a:r>
              <a:rPr lang="en-US" sz="1600" b="1" dirty="0">
                <a:solidFill>
                  <a:schemeClr val="tx1"/>
                </a:solidFill>
              </a:rPr>
              <a:t>Entity linking that knows roles</a:t>
            </a:r>
            <a:endParaRPr lang="en-US" sz="1600" dirty="0"/>
          </a:p>
        </p:txBody>
      </p:sp>
      <p:sp>
        <p:nvSpPr>
          <p:cNvPr id="7" name="Choice text 1"/>
          <p:cNvSpPr txBox="1"/>
          <p:nvPr/>
        </p:nvSpPr>
        <p:spPr>
          <a:xfrm>
            <a:off x="640080" y="1801368"/>
            <a:ext cx="3657600" cy="822960"/>
          </a:xfrm>
          <a:prstGeom prst="rect">
            <a:avLst/>
          </a:prstGeom>
          <a:noFill/>
          <a:ln/>
        </p:spPr>
        <p:txBody>
          <a:bodyPr wrap="square" lIns="0" tIns="0" rIns="0" bIns="0" rtlCol="0" anchor="t"/>
          <a:lstStyle/>
          <a:p>
            <a:pPr indent="0" marL="0">
              <a:buNone/>
            </a:pPr>
            <a:r>
              <a:rPr lang="en-US" sz="1400" dirty="0">
                <a:solidFill>
                  <a:schemeClr val="tx2"/>
                </a:solidFill>
              </a:rPr>
              <a:t>A bank quoted as the broker ("rating reaffirmed at JPMorgan") is not the subject. Social posts link by cashtag only.</a:t>
            </a:r>
            <a:endParaRPr lang="en-US" sz="1400" dirty="0"/>
          </a:p>
        </p:txBody>
      </p:sp>
      <p:sp>
        <p:nvSpPr>
          <p:cNvPr id="8" name="Choice card 2"/>
          <p:cNvSpPr/>
          <p:nvPr/>
        </p:nvSpPr>
        <p:spPr>
          <a:xfrm>
            <a:off x="4663440" y="1143000"/>
            <a:ext cx="4023360" cy="1554480"/>
          </a:xfrm>
          <a:prstGeom prst="roundRect">
            <a:avLst>
              <a:gd name="adj" fmla="val 4706"/>
            </a:avLst>
          </a:prstGeom>
          <a:solidFill>
            <a:schemeClr val="bg2"/>
          </a:solidFill>
          <a:ln w="12700">
            <a:solidFill>
              <a:schemeClr val="bg2"/>
            </a:solidFill>
            <a:prstDash val="solid"/>
          </a:ln>
        </p:spPr>
      </p:sp>
      <p:sp>
        <p:nvSpPr>
          <p:cNvPr id="9" name="Badge 2"/>
          <p:cNvSpPr/>
          <p:nvPr/>
        </p:nvSpPr>
        <p:spPr>
          <a:xfrm>
            <a:off x="4846320" y="1325880"/>
            <a:ext cx="384048" cy="384048"/>
          </a:xfrm>
          <a:prstGeom prst="ellipse">
            <a:avLst/>
          </a:prstGeom>
          <a:solidFill>
            <a:schemeClr val="accent2"/>
          </a:solidFill>
          <a:ln w="12700">
            <a:solidFill>
              <a:schemeClr val="accent2"/>
            </a:solidFill>
            <a:prstDash val="solid"/>
          </a:ln>
        </p:spPr>
      </p:sp>
      <p:sp>
        <p:nvSpPr>
          <p:cNvPr id="10" name="Badge 2 number"/>
          <p:cNvSpPr txBox="1"/>
          <p:nvPr/>
        </p:nvSpPr>
        <p:spPr>
          <a:xfrm>
            <a:off x="4846320" y="1325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Choice title 2"/>
          <p:cNvSpPr txBox="1"/>
          <p:nvPr/>
        </p:nvSpPr>
        <p:spPr>
          <a:xfrm>
            <a:off x="5376672" y="1325880"/>
            <a:ext cx="3154680" cy="384048"/>
          </a:xfrm>
          <a:prstGeom prst="rect">
            <a:avLst/>
          </a:prstGeom>
          <a:noFill/>
          <a:ln/>
        </p:spPr>
        <p:txBody>
          <a:bodyPr wrap="square" lIns="0" tIns="0" rIns="0" bIns="0" rtlCol="0" anchor="ctr"/>
          <a:lstStyle/>
          <a:p>
            <a:pPr indent="0" marL="0">
              <a:buNone/>
            </a:pPr>
            <a:r>
              <a:rPr lang="en-US" sz="1600" b="1" dirty="0">
                <a:solidFill>
                  <a:schemeClr val="tx1"/>
                </a:solidFill>
              </a:rPr>
              <a:t>Impact fitted to the market</a:t>
            </a:r>
            <a:endParaRPr lang="en-US" sz="1600" dirty="0"/>
          </a:p>
        </p:txBody>
      </p:sp>
      <p:sp>
        <p:nvSpPr>
          <p:cNvPr id="12" name="Choice text 2"/>
          <p:cNvSpPr txBox="1"/>
          <p:nvPr/>
        </p:nvSpPr>
        <p:spPr>
          <a:xfrm>
            <a:off x="4846320" y="1801368"/>
            <a:ext cx="3657600" cy="822960"/>
          </a:xfrm>
          <a:prstGeom prst="rect">
            <a:avLst/>
          </a:prstGeom>
          <a:noFill/>
          <a:ln/>
        </p:spPr>
        <p:txBody>
          <a:bodyPr wrap="square" lIns="0" tIns="0" rIns="0" bIns="0" rtlCol="0" anchor="t"/>
          <a:lstStyle/>
          <a:p>
            <a:pPr indent="0" marL="0">
              <a:buNone/>
            </a:pPr>
            <a:r>
              <a:rPr lang="en-US" sz="1400" dirty="0">
                <a:solidFill>
                  <a:schemeClr val="tx2"/>
                </a:solidFill>
              </a:rPr>
              <a:t>An additive model trained on abnormal price moves after 35,000 headlines. Every score shows its drivers.</a:t>
            </a:r>
            <a:endParaRPr lang="en-US" sz="1400" dirty="0"/>
          </a:p>
        </p:txBody>
      </p:sp>
      <p:sp>
        <p:nvSpPr>
          <p:cNvPr id="13" name="Choice card 3"/>
          <p:cNvSpPr/>
          <p:nvPr/>
        </p:nvSpPr>
        <p:spPr>
          <a:xfrm>
            <a:off x="457200" y="2880360"/>
            <a:ext cx="4023360" cy="1554480"/>
          </a:xfrm>
          <a:prstGeom prst="roundRect">
            <a:avLst>
              <a:gd name="adj" fmla="val 4706"/>
            </a:avLst>
          </a:prstGeom>
          <a:solidFill>
            <a:schemeClr val="bg2"/>
          </a:solidFill>
          <a:ln w="12700">
            <a:solidFill>
              <a:schemeClr val="bg2"/>
            </a:solidFill>
            <a:prstDash val="solid"/>
          </a:ln>
        </p:spPr>
      </p:sp>
      <p:sp>
        <p:nvSpPr>
          <p:cNvPr id="14" name="Badge 3"/>
          <p:cNvSpPr/>
          <p:nvPr/>
        </p:nvSpPr>
        <p:spPr>
          <a:xfrm>
            <a:off x="640080" y="3063240"/>
            <a:ext cx="384048" cy="384048"/>
          </a:xfrm>
          <a:prstGeom prst="ellipse">
            <a:avLst/>
          </a:prstGeom>
          <a:solidFill>
            <a:schemeClr val="accent3"/>
          </a:solidFill>
          <a:ln w="12700">
            <a:solidFill>
              <a:schemeClr val="accent3"/>
            </a:solidFill>
            <a:prstDash val="solid"/>
          </a:ln>
        </p:spPr>
      </p:sp>
      <p:sp>
        <p:nvSpPr>
          <p:cNvPr id="15" name="Badge 3 number"/>
          <p:cNvSpPr txBox="1"/>
          <p:nvPr/>
        </p:nvSpPr>
        <p:spPr>
          <a:xfrm>
            <a:off x="640080" y="30632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Choice title 3"/>
          <p:cNvSpPr txBox="1"/>
          <p:nvPr/>
        </p:nvSpPr>
        <p:spPr>
          <a:xfrm>
            <a:off x="1170432" y="3063240"/>
            <a:ext cx="3154680" cy="384048"/>
          </a:xfrm>
          <a:prstGeom prst="rect">
            <a:avLst/>
          </a:prstGeom>
          <a:noFill/>
          <a:ln/>
        </p:spPr>
        <p:txBody>
          <a:bodyPr wrap="square" lIns="0" tIns="0" rIns="0" bIns="0" rtlCol="0" anchor="ctr"/>
          <a:lstStyle/>
          <a:p>
            <a:pPr indent="0" marL="0">
              <a:buNone/>
            </a:pPr>
            <a:r>
              <a:rPr lang="en-US" sz="1600" b="1" dirty="0">
                <a:solidFill>
                  <a:schemeClr val="tx1"/>
                </a:solidFill>
              </a:rPr>
              <a:t>Attention measured honestly</a:t>
            </a:r>
            <a:endParaRPr lang="en-US" sz="1600" dirty="0"/>
          </a:p>
        </p:txBody>
      </p:sp>
      <p:sp>
        <p:nvSpPr>
          <p:cNvPr id="17" name="Choice text 3"/>
          <p:cNvSpPr txBox="1"/>
          <p:nvPr/>
        </p:nvSpPr>
        <p:spPr>
          <a:xfrm>
            <a:off x="640080" y="3538728"/>
            <a:ext cx="3657600" cy="822960"/>
          </a:xfrm>
          <a:prstGeom prst="rect">
            <a:avLst/>
          </a:prstGeom>
          <a:noFill/>
          <a:ln/>
        </p:spPr>
        <p:txBody>
          <a:bodyPr wrap="square" lIns="0" tIns="0" rIns="0" bIns="0" rtlCol="0" anchor="t"/>
          <a:lstStyle/>
          <a:p>
            <a:pPr indent="0" marL="0">
              <a:buNone/>
            </a:pPr>
            <a:r>
              <a:rPr lang="en-US" sz="1400" dirty="0">
                <a:solidFill>
                  <a:schemeClr val="tx2"/>
                </a:solidFill>
              </a:rPr>
              <a:t>Volume against each stream's own norm; share of voice for social, where the collector sets the volume.</a:t>
            </a:r>
            <a:endParaRPr lang="en-US" sz="1400" dirty="0"/>
          </a:p>
        </p:txBody>
      </p:sp>
      <p:sp>
        <p:nvSpPr>
          <p:cNvPr id="18" name="Choice card 4"/>
          <p:cNvSpPr/>
          <p:nvPr/>
        </p:nvSpPr>
        <p:spPr>
          <a:xfrm>
            <a:off x="4663440" y="2880360"/>
            <a:ext cx="4023360" cy="1554480"/>
          </a:xfrm>
          <a:prstGeom prst="roundRect">
            <a:avLst>
              <a:gd name="adj" fmla="val 4706"/>
            </a:avLst>
          </a:prstGeom>
          <a:solidFill>
            <a:schemeClr val="bg2"/>
          </a:solidFill>
          <a:ln w="12700">
            <a:solidFill>
              <a:schemeClr val="bg2"/>
            </a:solidFill>
            <a:prstDash val="solid"/>
          </a:ln>
        </p:spPr>
      </p:sp>
      <p:sp>
        <p:nvSpPr>
          <p:cNvPr id="19" name="Badge 4"/>
          <p:cNvSpPr/>
          <p:nvPr/>
        </p:nvSpPr>
        <p:spPr>
          <a:xfrm>
            <a:off x="4846320" y="3063240"/>
            <a:ext cx="384048" cy="384048"/>
          </a:xfrm>
          <a:prstGeom prst="ellipse">
            <a:avLst/>
          </a:prstGeom>
          <a:solidFill>
            <a:schemeClr val="accent4"/>
          </a:solidFill>
          <a:ln w="12700">
            <a:solidFill>
              <a:schemeClr val="accent4"/>
            </a:solidFill>
            <a:prstDash val="solid"/>
          </a:ln>
        </p:spPr>
      </p:sp>
      <p:sp>
        <p:nvSpPr>
          <p:cNvPr id="20" name="Badge 4 number"/>
          <p:cNvSpPr txBox="1"/>
          <p:nvPr/>
        </p:nvSpPr>
        <p:spPr>
          <a:xfrm>
            <a:off x="4846320" y="30632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Choice title 4"/>
          <p:cNvSpPr txBox="1"/>
          <p:nvPr/>
        </p:nvSpPr>
        <p:spPr>
          <a:xfrm>
            <a:off x="5376672" y="3063240"/>
            <a:ext cx="3154680" cy="384048"/>
          </a:xfrm>
          <a:prstGeom prst="rect">
            <a:avLst/>
          </a:prstGeom>
          <a:noFill/>
          <a:ln/>
        </p:spPr>
        <p:txBody>
          <a:bodyPr wrap="square" lIns="0" tIns="0" rIns="0" bIns="0" rtlCol="0" anchor="ctr"/>
          <a:lstStyle/>
          <a:p>
            <a:pPr indent="0" marL="0">
              <a:buNone/>
            </a:pPr>
            <a:r>
              <a:rPr lang="en-US" sz="1600" b="1" dirty="0">
                <a:solidFill>
                  <a:schemeClr val="tx1"/>
                </a:solidFill>
              </a:rPr>
              <a:t>Fully local and reproducible</a:t>
            </a:r>
            <a:endParaRPr lang="en-US" sz="1600" dirty="0"/>
          </a:p>
        </p:txBody>
      </p:sp>
      <p:sp>
        <p:nvSpPr>
          <p:cNvPr id="22" name="Choice text 4"/>
          <p:cNvSpPr txBox="1"/>
          <p:nvPr/>
        </p:nvSpPr>
        <p:spPr>
          <a:xfrm>
            <a:off x="4846320" y="3538728"/>
            <a:ext cx="3657600" cy="822960"/>
          </a:xfrm>
          <a:prstGeom prst="rect">
            <a:avLst/>
          </a:prstGeom>
          <a:noFill/>
          <a:ln/>
        </p:spPr>
        <p:txBody>
          <a:bodyPr wrap="square" lIns="0" tIns="0" rIns="0" bIns="0" rtlCol="0" anchor="t"/>
          <a:lstStyle/>
          <a:p>
            <a:pPr indent="0" marL="0">
              <a:buNone/>
            </a:pPr>
            <a:r>
              <a:rPr lang="en-US" sz="1400" dirty="0">
                <a:solidFill>
                  <a:schemeClr val="tx2"/>
                </a:solidFill>
              </a:rPr>
              <a:t>Open models on CPU, no paid API. Score cache, replay and live modes, REST API, 45 automated tests.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Each model beats its naive baseline</a:t>
            </a:r>
            <a:endParaRPr lang="en-US" sz="2800" dirty="0"/>
          </a:p>
        </p:txBody>
      </p:sp>
      <p:sp>
        <p:nvSpPr>
          <p:cNvPr id="3" name="Stat card 1"/>
          <p:cNvSpPr/>
          <p:nvPr/>
        </p:nvSpPr>
        <p:spPr>
          <a:xfrm>
            <a:off x="457200" y="1097280"/>
            <a:ext cx="3291840" cy="1024128"/>
          </a:xfrm>
          <a:prstGeom prst="roundRect">
            <a:avLst>
              <a:gd name="adj" fmla="val 7143"/>
            </a:avLst>
          </a:prstGeom>
          <a:solidFill>
            <a:schemeClr val="bg2"/>
          </a:solidFill>
          <a:ln w="12700">
            <a:solidFill>
              <a:schemeClr val="bg2"/>
            </a:solidFill>
            <a:prstDash val="solid"/>
          </a:ln>
        </p:spPr>
      </p:sp>
      <p:sp>
        <p:nvSpPr>
          <p:cNvPr id="4" name="Stat value 1"/>
          <p:cNvSpPr txBox="1"/>
          <p:nvPr/>
        </p:nvSpPr>
        <p:spPr>
          <a:xfrm>
            <a:off x="594360" y="1097280"/>
            <a:ext cx="1417320" cy="1024128"/>
          </a:xfrm>
          <a:prstGeom prst="rect">
            <a:avLst/>
          </a:prstGeom>
          <a:noFill/>
          <a:ln/>
        </p:spPr>
        <p:txBody>
          <a:bodyPr wrap="square" lIns="0" tIns="0" rIns="0" bIns="0" rtlCol="0" anchor="ctr"/>
          <a:lstStyle/>
          <a:p>
            <a:pPr indent="0" marL="0">
              <a:buNone/>
            </a:pPr>
            <a:r>
              <a:rPr lang="en-US" sz="3200" b="1" dirty="0">
                <a:solidFill>
                  <a:schemeClr val="accent1"/>
                </a:solidFill>
              </a:rPr>
              <a:t>71.6%</a:t>
            </a:r>
            <a:endParaRPr lang="en-US" sz="3200" dirty="0"/>
          </a:p>
        </p:txBody>
      </p:sp>
      <p:sp>
        <p:nvSpPr>
          <p:cNvPr id="5" name="Stat label 1"/>
          <p:cNvSpPr txBox="1"/>
          <p:nvPr/>
        </p:nvSpPr>
        <p:spPr>
          <a:xfrm>
            <a:off x="2011680" y="1097280"/>
            <a:ext cx="1691640" cy="1024128"/>
          </a:xfrm>
          <a:prstGeom prst="rect">
            <a:avLst/>
          </a:prstGeom>
          <a:noFill/>
          <a:ln/>
        </p:spPr>
        <p:txBody>
          <a:bodyPr wrap="square" lIns="0" tIns="0" rIns="0" bIns="0" rtlCol="0" anchor="ctr"/>
          <a:lstStyle/>
          <a:p>
            <a:pPr indent="0" marL="0">
              <a:buNone/>
            </a:pPr>
            <a:r>
              <a:rPr lang="en-US" sz="1200" b="1" dirty="0">
                <a:solidFill>
                  <a:schemeClr val="tx1"/>
                </a:solidFill>
              </a:rPr>
              <a:t>Sentiment accuracy</a:t>
            </a:r>
            <a:endParaRPr lang="en-US" sz="1200" dirty="0"/>
          </a:p>
          <a:p>
            <a:pPr indent="0" marL="0">
              <a:buNone/>
            </a:pPr>
            <a:r>
              <a:rPr lang="en-US" sz="1200" dirty="0">
                <a:solidFill>
                  <a:schemeClr val="tx2"/>
                </a:solidFill>
              </a:rPr>
              <a:t>lexicon baseline 49.6%</a:t>
            </a:r>
            <a:endParaRPr lang="en-US" sz="1200" dirty="0"/>
          </a:p>
        </p:txBody>
      </p:sp>
      <p:sp>
        <p:nvSpPr>
          <p:cNvPr id="6" name="Stat card 2"/>
          <p:cNvSpPr/>
          <p:nvPr/>
        </p:nvSpPr>
        <p:spPr>
          <a:xfrm>
            <a:off x="457200" y="2267712"/>
            <a:ext cx="3291840" cy="1024128"/>
          </a:xfrm>
          <a:prstGeom prst="roundRect">
            <a:avLst>
              <a:gd name="adj" fmla="val 7143"/>
            </a:avLst>
          </a:prstGeom>
          <a:solidFill>
            <a:schemeClr val="bg2"/>
          </a:solidFill>
          <a:ln w="12700">
            <a:solidFill>
              <a:schemeClr val="bg2"/>
            </a:solidFill>
            <a:prstDash val="solid"/>
          </a:ln>
        </p:spPr>
      </p:sp>
      <p:sp>
        <p:nvSpPr>
          <p:cNvPr id="7" name="Stat value 2"/>
          <p:cNvSpPr txBox="1"/>
          <p:nvPr/>
        </p:nvSpPr>
        <p:spPr>
          <a:xfrm>
            <a:off x="594360" y="2267712"/>
            <a:ext cx="1417320" cy="1024128"/>
          </a:xfrm>
          <a:prstGeom prst="rect">
            <a:avLst/>
          </a:prstGeom>
          <a:noFill/>
          <a:ln/>
        </p:spPr>
        <p:txBody>
          <a:bodyPr wrap="square" lIns="0" tIns="0" rIns="0" bIns="0" rtlCol="0" anchor="ctr"/>
          <a:lstStyle/>
          <a:p>
            <a:pPr indent="0" marL="0">
              <a:buNone/>
            </a:pPr>
            <a:r>
              <a:rPr lang="en-US" sz="3200" b="1" dirty="0">
                <a:solidFill>
                  <a:schemeClr val="accent1"/>
                </a:solidFill>
              </a:rPr>
              <a:t>85.9%</a:t>
            </a:r>
            <a:endParaRPr lang="en-US" sz="3200" dirty="0"/>
          </a:p>
        </p:txBody>
      </p:sp>
      <p:sp>
        <p:nvSpPr>
          <p:cNvPr id="8" name="Stat label 2"/>
          <p:cNvSpPr txBox="1"/>
          <p:nvPr/>
        </p:nvSpPr>
        <p:spPr>
          <a:xfrm>
            <a:off x="2011680" y="2267712"/>
            <a:ext cx="1691640" cy="1024128"/>
          </a:xfrm>
          <a:prstGeom prst="rect">
            <a:avLst/>
          </a:prstGeom>
          <a:noFill/>
          <a:ln/>
        </p:spPr>
        <p:txBody>
          <a:bodyPr wrap="square" lIns="0" tIns="0" rIns="0" bIns="0" rtlCol="0" anchor="ctr"/>
          <a:lstStyle/>
          <a:p>
            <a:pPr indent="0" marL="0">
              <a:buNone/>
            </a:pPr>
            <a:r>
              <a:rPr lang="en-US" sz="1200" b="1" dirty="0">
                <a:solidFill>
                  <a:schemeClr val="tx1"/>
                </a:solidFill>
              </a:rPr>
              <a:t>Event classification</a:t>
            </a:r>
            <a:endParaRPr lang="en-US" sz="1200" dirty="0"/>
          </a:p>
          <a:p>
            <a:pPr indent="0" marL="0">
              <a:buNone/>
            </a:pPr>
            <a:r>
              <a:rPr lang="en-US" sz="1200" dirty="0">
                <a:solidFill>
                  <a:schemeClr val="tx2"/>
                </a:solidFill>
              </a:rPr>
              <a:t>keyword rules 54.7%</a:t>
            </a:r>
            <a:endParaRPr lang="en-US" sz="1200" dirty="0"/>
          </a:p>
        </p:txBody>
      </p:sp>
      <p:sp>
        <p:nvSpPr>
          <p:cNvPr id="9" name="Stat card 3"/>
          <p:cNvSpPr/>
          <p:nvPr/>
        </p:nvSpPr>
        <p:spPr>
          <a:xfrm>
            <a:off x="457200" y="3438144"/>
            <a:ext cx="3291840" cy="1024128"/>
          </a:xfrm>
          <a:prstGeom prst="roundRect">
            <a:avLst>
              <a:gd name="adj" fmla="val 7143"/>
            </a:avLst>
          </a:prstGeom>
          <a:solidFill>
            <a:schemeClr val="bg2"/>
          </a:solidFill>
          <a:ln w="12700">
            <a:solidFill>
              <a:schemeClr val="bg2"/>
            </a:solidFill>
            <a:prstDash val="solid"/>
          </a:ln>
        </p:spPr>
      </p:sp>
      <p:sp>
        <p:nvSpPr>
          <p:cNvPr id="10" name="Stat value 3"/>
          <p:cNvSpPr txBox="1"/>
          <p:nvPr/>
        </p:nvSpPr>
        <p:spPr>
          <a:xfrm>
            <a:off x="594360" y="3438144"/>
            <a:ext cx="1417320" cy="1024128"/>
          </a:xfrm>
          <a:prstGeom prst="rect">
            <a:avLst/>
          </a:prstGeom>
          <a:noFill/>
          <a:ln/>
        </p:spPr>
        <p:txBody>
          <a:bodyPr wrap="square" lIns="0" tIns="0" rIns="0" bIns="0" rtlCol="0" anchor="ctr"/>
          <a:lstStyle/>
          <a:p>
            <a:pPr indent="0" marL="0">
              <a:buNone/>
            </a:pPr>
            <a:r>
              <a:rPr lang="en-US" sz="3200" b="1" dirty="0">
                <a:solidFill>
                  <a:schemeClr val="accent1"/>
                </a:solidFill>
              </a:rPr>
              <a:t>38%</a:t>
            </a:r>
            <a:endParaRPr lang="en-US" sz="3200" dirty="0"/>
          </a:p>
        </p:txBody>
      </p:sp>
      <p:sp>
        <p:nvSpPr>
          <p:cNvPr id="11" name="Stat label 3"/>
          <p:cNvSpPr txBox="1"/>
          <p:nvPr/>
        </p:nvSpPr>
        <p:spPr>
          <a:xfrm>
            <a:off x="2011680" y="3438144"/>
            <a:ext cx="1691640" cy="1024128"/>
          </a:xfrm>
          <a:prstGeom prst="rect">
            <a:avLst/>
          </a:prstGeom>
          <a:noFill/>
          <a:ln/>
        </p:spPr>
        <p:txBody>
          <a:bodyPr wrap="square" lIns="0" tIns="0" rIns="0" bIns="0" rtlCol="0" anchor="ctr"/>
          <a:lstStyle/>
          <a:p>
            <a:pPr indent="0" marL="0">
              <a:buNone/>
            </a:pPr>
            <a:r>
              <a:rPr lang="en-US" sz="1200" b="1" dirty="0">
                <a:solidFill>
                  <a:schemeClr val="tx1"/>
                </a:solidFill>
              </a:rPr>
              <a:t>Big move when impact &gt; 7</a:t>
            </a:r>
            <a:endParaRPr lang="en-US" sz="1200" dirty="0"/>
          </a:p>
          <a:p>
            <a:pPr indent="0" marL="0">
              <a:buNone/>
            </a:pPr>
            <a:r>
              <a:rPr lang="en-US" sz="1200" dirty="0">
                <a:solidFill>
                  <a:schemeClr val="tx2"/>
                </a:solidFill>
              </a:rPr>
              <a:t>any stock-day 8%</a:t>
            </a:r>
            <a:endParaRPr lang="en-US" sz="1200" dirty="0"/>
          </a:p>
        </p:txBody>
      </p:sp>
      <p:graphicFrame>
        <p:nvGraphicFramePr>
          <p:cNvPr id="12" name="Impact band chart" descr=""/>
          <p:cNvGraphicFramePr/>
          <p:nvPr/>
        </p:nvGraphicFramePr>
        <p:xfrm>
          <a:off x="4023360" y="1097280"/>
          <a:ext cx="4663440" cy="3017520"/>
        </p:xfrm>
        <a:graphic xmlns:a="http://schemas.openxmlformats.org/drawingml/2006/main">
          <a:graphicData uri="http://schemas.openxmlformats.org/drawingml/2006/chart">
            <c:chart xmlns:c="http://schemas.openxmlformats.org/drawingml/2006/chart" r:id="rId1"/>
          </a:graphicData>
        </a:graphic>
      </p:graphicFrame>
      <p:sp>
        <p:nvSpPr>
          <p:cNvPr id="13" name="Chart caption"/>
          <p:cNvSpPr txBox="1"/>
          <p:nvPr/>
        </p:nvSpPr>
        <p:spPr>
          <a:xfrm>
            <a:off x="4023360" y="4160520"/>
            <a:ext cx="4663440" cy="457200"/>
          </a:xfrm>
          <a:prstGeom prst="rect">
            <a:avLst/>
          </a:prstGeom>
          <a:noFill/>
          <a:ln/>
        </p:spPr>
        <p:txBody>
          <a:bodyPr wrap="square" lIns="0" tIns="0" rIns="0" bIns="0" rtlCol="0" anchor="t"/>
          <a:lstStyle/>
          <a:p>
            <a:pPr indent="0" marL="0">
              <a:buNone/>
            </a:pPr>
            <a:r>
              <a:rPr lang="en-US" sz="1000" dirty="0">
                <a:solidFill>
                  <a:schemeClr val="accent5"/>
                </a:solidFill>
              </a:rPr>
              <a:t>Impact tested on 5,969 headlines from 2019, fitted on 2015-2018. Move is the abnormal return over two days, in units of the stock's own volatility.</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Signals priced two real stress days</a:t>
            </a:r>
            <a:endParaRPr lang="en-US" sz="2800" dirty="0"/>
          </a:p>
        </p:txBody>
      </p:sp>
      <p:sp>
        <p:nvSpPr>
          <p:cNvPr id="3" name="Module B card"/>
          <p:cNvSpPr/>
          <p:nvPr/>
        </p:nvSpPr>
        <p:spPr>
          <a:xfrm>
            <a:off x="457200" y="1143000"/>
            <a:ext cx="4023360" cy="3429000"/>
          </a:xfrm>
          <a:prstGeom prst="roundRect">
            <a:avLst>
              <a:gd name="adj" fmla="val 2133"/>
            </a:avLst>
          </a:prstGeom>
          <a:solidFill>
            <a:schemeClr val="bg2"/>
          </a:solidFill>
          <a:ln w="12700">
            <a:solidFill>
              <a:schemeClr val="bg2"/>
            </a:solidFill>
            <a:prstDash val="solid"/>
          </a:ln>
        </p:spPr>
      </p:sp>
      <p:sp>
        <p:nvSpPr>
          <p:cNvPr id="4" name="Module B heading"/>
          <p:cNvSpPr txBox="1"/>
          <p:nvPr/>
        </p:nvSpPr>
        <p:spPr>
          <a:xfrm>
            <a:off x="640080" y="1234440"/>
            <a:ext cx="3657600" cy="365760"/>
          </a:xfrm>
          <a:prstGeom prst="rect">
            <a:avLst/>
          </a:prstGeom>
          <a:noFill/>
          <a:ln/>
        </p:spPr>
        <p:txBody>
          <a:bodyPr wrap="square" lIns="0" tIns="0" rIns="0" bIns="0" rtlCol="0" anchor="ctr"/>
          <a:lstStyle/>
          <a:p>
            <a:pPr indent="0" marL="0">
              <a:buNone/>
            </a:pPr>
            <a:r>
              <a:rPr lang="en-US" sz="1600" b="1" dirty="0">
                <a:solidFill>
                  <a:schemeClr val="accent2"/>
                </a:solidFill>
              </a:rPr>
              <a:t>Module B: stress testing</a:t>
            </a:r>
            <a:endParaRPr lang="en-US" sz="1600" dirty="0"/>
          </a:p>
        </p:txBody>
      </p:sp>
      <p:sp>
        <p:nvSpPr>
          <p:cNvPr id="5" name="Loss 1"/>
          <p:cNvSpPr txBox="1"/>
          <p:nvPr/>
        </p:nvSpPr>
        <p:spPr>
          <a:xfrm>
            <a:off x="640080" y="1645920"/>
            <a:ext cx="1828800" cy="548640"/>
          </a:xfrm>
          <a:prstGeom prst="rect">
            <a:avLst/>
          </a:prstGeom>
          <a:noFill/>
          <a:ln/>
        </p:spPr>
        <p:txBody>
          <a:bodyPr wrap="square" lIns="0" tIns="0" rIns="0" bIns="0" rtlCol="0" anchor="ctr"/>
          <a:lstStyle/>
          <a:p>
            <a:pPr indent="0" marL="0">
              <a:buNone/>
            </a:pPr>
            <a:r>
              <a:rPr lang="en-US" sz="3000" b="1" dirty="0">
                <a:solidFill>
                  <a:schemeClr val="tx1"/>
                </a:solidFill>
              </a:rPr>
              <a:t>-$162m</a:t>
            </a:r>
            <a:endParaRPr lang="en-US" sz="3000" dirty="0"/>
          </a:p>
        </p:txBody>
      </p:sp>
      <p:sp>
        <p:nvSpPr>
          <p:cNvPr id="6" name="Loss 1 label"/>
          <p:cNvSpPr txBox="1"/>
          <p:nvPr/>
        </p:nvSpPr>
        <p:spPr>
          <a:xfrm>
            <a:off x="2468880" y="1645920"/>
            <a:ext cx="1874520" cy="548640"/>
          </a:xfrm>
          <a:prstGeom prst="rect">
            <a:avLst/>
          </a:prstGeom>
          <a:noFill/>
          <a:ln/>
        </p:spPr>
        <p:txBody>
          <a:bodyPr wrap="square" lIns="0" tIns="0" rIns="0" bIns="0" rtlCol="0" anchor="ctr"/>
          <a:lstStyle/>
          <a:p>
            <a:pPr indent="0" marL="0">
              <a:buNone/>
            </a:pPr>
            <a:r>
              <a:rPr lang="en-US" sz="1200" dirty="0">
                <a:solidFill>
                  <a:schemeClr val="tx2"/>
                </a:solidFill>
              </a:rPr>
              <a:t>10 Mar 2020, after the oil-price crash</a:t>
            </a:r>
            <a:endParaRPr lang="en-US" sz="1200" dirty="0"/>
          </a:p>
        </p:txBody>
      </p:sp>
      <p:sp>
        <p:nvSpPr>
          <p:cNvPr id="7" name="Loss 2"/>
          <p:cNvSpPr txBox="1"/>
          <p:nvPr/>
        </p:nvSpPr>
        <p:spPr>
          <a:xfrm>
            <a:off x="640080" y="2240280"/>
            <a:ext cx="1828800" cy="548640"/>
          </a:xfrm>
          <a:prstGeom prst="rect">
            <a:avLst/>
          </a:prstGeom>
          <a:noFill/>
          <a:ln/>
        </p:spPr>
        <p:txBody>
          <a:bodyPr wrap="square" lIns="0" tIns="0" rIns="0" bIns="0" rtlCol="0" anchor="ctr"/>
          <a:lstStyle/>
          <a:p>
            <a:pPr indent="0" marL="0">
              <a:buNone/>
            </a:pPr>
            <a:r>
              <a:rPr lang="en-US" sz="3000" b="1" dirty="0">
                <a:solidFill>
                  <a:schemeClr val="tx1"/>
                </a:solidFill>
              </a:rPr>
              <a:t>-$135m</a:t>
            </a:r>
            <a:endParaRPr lang="en-US" sz="3000" dirty="0"/>
          </a:p>
        </p:txBody>
      </p:sp>
      <p:sp>
        <p:nvSpPr>
          <p:cNvPr id="8" name="Loss 2 label"/>
          <p:cNvSpPr txBox="1"/>
          <p:nvPr/>
        </p:nvSpPr>
        <p:spPr>
          <a:xfrm>
            <a:off x="2468880" y="2240280"/>
            <a:ext cx="1874520" cy="548640"/>
          </a:xfrm>
          <a:prstGeom prst="rect">
            <a:avLst/>
          </a:prstGeom>
          <a:noFill/>
          <a:ln/>
        </p:spPr>
        <p:txBody>
          <a:bodyPr wrap="square" lIns="0" tIns="0" rIns="0" bIns="0" rtlCol="0" anchor="ctr"/>
          <a:lstStyle/>
          <a:p>
            <a:pPr indent="0" marL="0">
              <a:buNone/>
            </a:pPr>
            <a:r>
              <a:rPr lang="en-US" sz="1200" dirty="0">
                <a:solidFill>
                  <a:schemeClr val="tx2"/>
                </a:solidFill>
              </a:rPr>
              <a:t>2 Apr 2020, record US jobless claims</a:t>
            </a:r>
            <a:endParaRPr lang="en-US" sz="1200" dirty="0"/>
          </a:p>
        </p:txBody>
      </p:sp>
      <p:sp>
        <p:nvSpPr>
          <p:cNvPr id="9" name="Module B points"/>
          <p:cNvSpPr txBox="1"/>
          <p:nvPr/>
        </p:nvSpPr>
        <p:spPr>
          <a:xfrm>
            <a:off x="640080" y="2926080"/>
            <a:ext cx="365760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Triggered automatically on a $7.4bn synthetic book of loans, bonds and derivatives</a:t>
            </a:r>
            <a:endParaRPr lang="en-US" sz="1400" dirty="0"/>
          </a:p>
          <a:p>
            <a:pPr marL="342900" indent="-342900">
              <a:spcAft>
                <a:spcPts val="800"/>
              </a:spcAft>
              <a:buSzPct val="100000"/>
              <a:buChar char="•"/>
            </a:pPr>
            <a:r>
              <a:rPr lang="en-US" sz="1400" dirty="0">
                <a:solidFill>
                  <a:schemeClr val="tx2"/>
                </a:solidFill>
              </a:rPr>
              <a:t>Both days had the VIX near 50; credit spreads drove the loss</a:t>
            </a:r>
            <a:endParaRPr lang="en-US" sz="1400" dirty="0"/>
          </a:p>
        </p:txBody>
      </p:sp>
      <p:sp>
        <p:nvSpPr>
          <p:cNvPr id="10" name="Module A card"/>
          <p:cNvSpPr/>
          <p:nvPr/>
        </p:nvSpPr>
        <p:spPr>
          <a:xfrm>
            <a:off x="4663440" y="1143000"/>
            <a:ext cx="4023360" cy="3429000"/>
          </a:xfrm>
          <a:prstGeom prst="roundRect">
            <a:avLst>
              <a:gd name="adj" fmla="val 2133"/>
            </a:avLst>
          </a:prstGeom>
          <a:solidFill>
            <a:schemeClr val="bg2"/>
          </a:solidFill>
          <a:ln w="12700">
            <a:solidFill>
              <a:schemeClr val="bg2"/>
            </a:solidFill>
            <a:prstDash val="solid"/>
          </a:ln>
        </p:spPr>
      </p:sp>
      <p:sp>
        <p:nvSpPr>
          <p:cNvPr id="11" name="Module A heading"/>
          <p:cNvSpPr txBox="1"/>
          <p:nvPr/>
        </p:nvSpPr>
        <p:spPr>
          <a:xfrm>
            <a:off x="4846320" y="1234440"/>
            <a:ext cx="3657600" cy="365760"/>
          </a:xfrm>
          <a:prstGeom prst="rect">
            <a:avLst/>
          </a:prstGeom>
          <a:noFill/>
          <a:ln/>
        </p:spPr>
        <p:txBody>
          <a:bodyPr wrap="square" lIns="0" tIns="0" rIns="0" bIns="0" rtlCol="0" anchor="ctr"/>
          <a:lstStyle/>
          <a:p>
            <a:pPr indent="0" marL="0">
              <a:buNone/>
            </a:pPr>
            <a:r>
              <a:rPr lang="en-US" sz="1600" b="1" dirty="0">
                <a:solidFill>
                  <a:schemeClr val="accent1"/>
                </a:solidFill>
              </a:rPr>
              <a:t>Module A: index rebalancer</a:t>
            </a:r>
            <a:endParaRPr lang="en-US" sz="1600" dirty="0"/>
          </a:p>
        </p:txBody>
      </p:sp>
      <p:sp>
        <p:nvSpPr>
          <p:cNvPr id="12" name="Return 1"/>
          <p:cNvSpPr txBox="1"/>
          <p:nvPr/>
        </p:nvSpPr>
        <p:spPr>
          <a:xfrm>
            <a:off x="4846320" y="1645920"/>
            <a:ext cx="1828800" cy="548640"/>
          </a:xfrm>
          <a:prstGeom prst="rect">
            <a:avLst/>
          </a:prstGeom>
          <a:noFill/>
          <a:ln/>
        </p:spPr>
        <p:txBody>
          <a:bodyPr wrap="square" lIns="0" tIns="0" rIns="0" bIns="0" rtlCol="0" anchor="ctr"/>
          <a:lstStyle/>
          <a:p>
            <a:pPr indent="0" marL="0">
              <a:buNone/>
            </a:pPr>
            <a:r>
              <a:rPr lang="en-US" sz="3000" b="1" dirty="0">
                <a:solidFill>
                  <a:schemeClr val="tx1"/>
                </a:solidFill>
              </a:rPr>
              <a:t>+10.8%</a:t>
            </a:r>
            <a:endParaRPr lang="en-US" sz="3000" dirty="0"/>
          </a:p>
        </p:txBody>
      </p:sp>
      <p:sp>
        <p:nvSpPr>
          <p:cNvPr id="13" name="Return 1 label"/>
          <p:cNvSpPr txBox="1"/>
          <p:nvPr/>
        </p:nvSpPr>
        <p:spPr>
          <a:xfrm>
            <a:off x="6675120" y="1645920"/>
            <a:ext cx="1874520" cy="548640"/>
          </a:xfrm>
          <a:prstGeom prst="rect">
            <a:avLst/>
          </a:prstGeom>
          <a:noFill/>
          <a:ln/>
        </p:spPr>
        <p:txBody>
          <a:bodyPr wrap="square" lIns="0" tIns="0" rIns="0" bIns="0" rtlCol="0" anchor="ctr"/>
          <a:lstStyle/>
          <a:p>
            <a:pPr indent="0" marL="0">
              <a:buNone/>
            </a:pPr>
            <a:r>
              <a:rPr lang="en-US" sz="1200" dirty="0">
                <a:solidFill>
                  <a:schemeClr val="tx2"/>
                </a:solidFill>
              </a:rPr>
              <a:t>sentiment-tilted index, Jan-Jul 2020</a:t>
            </a:r>
            <a:endParaRPr lang="en-US" sz="1200" dirty="0"/>
          </a:p>
        </p:txBody>
      </p:sp>
      <p:sp>
        <p:nvSpPr>
          <p:cNvPr id="14" name="Return 2"/>
          <p:cNvSpPr txBox="1"/>
          <p:nvPr/>
        </p:nvSpPr>
        <p:spPr>
          <a:xfrm>
            <a:off x="4846320" y="2240280"/>
            <a:ext cx="1828800" cy="548640"/>
          </a:xfrm>
          <a:prstGeom prst="rect">
            <a:avLst/>
          </a:prstGeom>
          <a:noFill/>
          <a:ln/>
        </p:spPr>
        <p:txBody>
          <a:bodyPr wrap="square" lIns="0" tIns="0" rIns="0" bIns="0" rtlCol="0" anchor="ctr"/>
          <a:lstStyle/>
          <a:p>
            <a:pPr indent="0" marL="0">
              <a:buNone/>
            </a:pPr>
            <a:r>
              <a:rPr lang="en-US" sz="3000" b="1" dirty="0">
                <a:solidFill>
                  <a:schemeClr val="tx1"/>
                </a:solidFill>
              </a:rPr>
              <a:t>+11.2%</a:t>
            </a:r>
            <a:endParaRPr lang="en-US" sz="3000" dirty="0"/>
          </a:p>
        </p:txBody>
      </p:sp>
      <p:sp>
        <p:nvSpPr>
          <p:cNvPr id="15" name="Return 2 label"/>
          <p:cNvSpPr txBox="1"/>
          <p:nvPr/>
        </p:nvSpPr>
        <p:spPr>
          <a:xfrm>
            <a:off x="6675120" y="2240280"/>
            <a:ext cx="1874520" cy="548640"/>
          </a:xfrm>
          <a:prstGeom prst="rect">
            <a:avLst/>
          </a:prstGeom>
          <a:noFill/>
          <a:ln/>
        </p:spPr>
        <p:txBody>
          <a:bodyPr wrap="square" lIns="0" tIns="0" rIns="0" bIns="0" rtlCol="0" anchor="ctr"/>
          <a:lstStyle/>
          <a:p>
            <a:pPr indent="0" marL="0">
              <a:buNone/>
            </a:pPr>
            <a:r>
              <a:rPr lang="en-US" sz="1200" dirty="0">
                <a:solidFill>
                  <a:schemeClr val="tx2"/>
                </a:solidFill>
              </a:rPr>
              <a:t>equal-weight index, same 18 stocks</a:t>
            </a:r>
            <a:endParaRPr lang="en-US" sz="1200" dirty="0"/>
          </a:p>
        </p:txBody>
      </p:sp>
      <p:sp>
        <p:nvSpPr>
          <p:cNvPr id="16" name="Module A points"/>
          <p:cNvSpPr txBox="1"/>
          <p:nvPr/>
        </p:nvSpPr>
        <p:spPr>
          <a:xfrm>
            <a:off x="4846320" y="2926080"/>
            <a:ext cx="365760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No outperformance, slightly lower volatility and drawdown</a:t>
            </a:r>
            <a:endParaRPr lang="en-US" sz="1400" dirty="0"/>
          </a:p>
          <a:p>
            <a:pPr marL="342900" indent="-342900">
              <a:spcAft>
                <a:spcPts val="800"/>
              </a:spcAft>
              <a:buSzPct val="100000"/>
              <a:buChar char="•"/>
            </a:pPr>
            <a:r>
              <a:rPr lang="en-US" sz="1400" dirty="0">
                <a:solidFill>
                  <a:schemeClr val="tx2"/>
                </a:solidFill>
              </a:rPr>
              <a:t>Sentiment tracks the same day's return but not the next tradable one: it describes moves, it does not forecast them</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What is not yet proven, and what is next</a:t>
            </a:r>
            <a:endParaRPr lang="en-US" sz="2800" dirty="0"/>
          </a:p>
        </p:txBody>
      </p:sp>
      <p:sp>
        <p:nvSpPr>
          <p:cNvPr id="3" name="Limitations heading"/>
          <p:cNvSpPr txBox="1"/>
          <p:nvPr/>
        </p:nvSpPr>
        <p:spPr>
          <a:xfrm>
            <a:off x="457200" y="1097280"/>
            <a:ext cx="3931920" cy="320040"/>
          </a:xfrm>
          <a:prstGeom prst="rect">
            <a:avLst/>
          </a:prstGeom>
          <a:noFill/>
          <a:ln/>
        </p:spPr>
        <p:txBody>
          <a:bodyPr wrap="square" lIns="0" tIns="0" rIns="0" bIns="0" rtlCol="0" anchor="ctr"/>
          <a:lstStyle/>
          <a:p>
            <a:pPr indent="0" marL="0">
              <a:buNone/>
            </a:pPr>
            <a:r>
              <a:rPr lang="en-US" sz="1800" b="1" dirty="0">
                <a:solidFill>
                  <a:schemeClr val="accent2"/>
                </a:solidFill>
              </a:rPr>
              <a:t>Limitations</a:t>
            </a:r>
            <a:endParaRPr lang="en-US" sz="1800" dirty="0"/>
          </a:p>
        </p:txBody>
      </p:sp>
      <p:sp>
        <p:nvSpPr>
          <p:cNvPr id="4" name="Limitations points"/>
          <p:cNvSpPr txBox="1"/>
          <p:nvPr/>
        </p:nvSpPr>
        <p:spPr>
          <a:xfrm>
            <a:off x="457200" y="1463040"/>
            <a:ext cx="3931920" cy="310896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2"/>
                </a:solidFill>
              </a:rPr>
              <a:t>Market-wide impact is not validated: the public headlines are stock commentary, not a macro newswire</a:t>
            </a:r>
            <a:endParaRPr lang="en-US" sz="1400" dirty="0"/>
          </a:p>
          <a:p>
            <a:pPr marL="342900" indent="-342900">
              <a:spcAft>
                <a:spcPts val="900"/>
              </a:spcAft>
              <a:buSzPct val="100000"/>
              <a:buChar char="•"/>
            </a:pPr>
            <a:r>
              <a:rPr lang="en-US" sz="1400" dirty="0">
                <a:solidFill>
                  <a:schemeClr val="tx2"/>
                </a:solidFill>
              </a:rPr>
              <a:t>Coverage volume drives most of the impact score; event type adds little</a:t>
            </a:r>
            <a:endParaRPr lang="en-US" sz="1400" dirty="0"/>
          </a:p>
          <a:p>
            <a:pPr marL="342900" indent="-342900">
              <a:spcAft>
                <a:spcPts val="900"/>
              </a:spcAft>
              <a:buSzPct val="100000"/>
              <a:buChar char="•"/>
            </a:pPr>
            <a:r>
              <a:rPr lang="en-US" sz="1400" dirty="0">
                <a:solidFill>
                  <a:schemeClr val="tx2"/>
                </a:solidFill>
              </a:rPr>
              <a:t>One six-month window that includes the COVID crash</a:t>
            </a:r>
            <a:endParaRPr lang="en-US" sz="1400" dirty="0"/>
          </a:p>
          <a:p>
            <a:pPr marL="342900" indent="-342900">
              <a:spcAft>
                <a:spcPts val="900"/>
              </a:spcAft>
              <a:buSzPct val="100000"/>
              <a:buChar char="•"/>
            </a:pPr>
            <a:r>
              <a:rPr lang="en-US" sz="1400" dirty="0">
                <a:solidFill>
                  <a:schemeClr val="tx2"/>
                </a:solidFill>
              </a:rPr>
              <a:t>Stress model is a simplified sensitivity revaluation on a synthetic book</a:t>
            </a:r>
            <a:endParaRPr lang="en-US" sz="1400" dirty="0"/>
          </a:p>
        </p:txBody>
      </p:sp>
      <p:sp>
        <p:nvSpPr>
          <p:cNvPr id="5" name="Next steps heading"/>
          <p:cNvSpPr txBox="1"/>
          <p:nvPr/>
        </p:nvSpPr>
        <p:spPr>
          <a:xfrm>
            <a:off x="4754880" y="1097280"/>
            <a:ext cx="3931920" cy="320040"/>
          </a:xfrm>
          <a:prstGeom prst="rect">
            <a:avLst/>
          </a:prstGeom>
          <a:noFill/>
          <a:ln/>
        </p:spPr>
        <p:txBody>
          <a:bodyPr wrap="square" lIns="0" tIns="0" rIns="0" bIns="0" rtlCol="0" anchor="ctr"/>
          <a:lstStyle/>
          <a:p>
            <a:pPr indent="0" marL="0">
              <a:buNone/>
            </a:pPr>
            <a:r>
              <a:rPr lang="en-US" sz="1800" b="1" dirty="0">
                <a:solidFill>
                  <a:schemeClr val="accent3"/>
                </a:solidFill>
              </a:rPr>
              <a:t>Next steps</a:t>
            </a:r>
            <a:endParaRPr lang="en-US" sz="1800" dirty="0"/>
          </a:p>
        </p:txBody>
      </p:sp>
      <p:sp>
        <p:nvSpPr>
          <p:cNvPr id="6" name="Next card 1"/>
          <p:cNvSpPr/>
          <p:nvPr/>
        </p:nvSpPr>
        <p:spPr>
          <a:xfrm>
            <a:off x="4754880" y="1508760"/>
            <a:ext cx="3931920" cy="640080"/>
          </a:xfrm>
          <a:prstGeom prst="roundRect">
            <a:avLst>
              <a:gd name="adj" fmla="val 11429"/>
            </a:avLst>
          </a:prstGeom>
          <a:solidFill>
            <a:schemeClr val="bg2"/>
          </a:solidFill>
          <a:ln w="12700">
            <a:solidFill>
              <a:schemeClr val="bg2"/>
            </a:solidFill>
            <a:prstDash val="solid"/>
          </a:ln>
        </p:spPr>
      </p:sp>
      <p:sp>
        <p:nvSpPr>
          <p:cNvPr id="7" name="Badge 1"/>
          <p:cNvSpPr/>
          <p:nvPr/>
        </p:nvSpPr>
        <p:spPr>
          <a:xfrm>
            <a:off x="4882896" y="1636776"/>
            <a:ext cx="384048" cy="384048"/>
          </a:xfrm>
          <a:prstGeom prst="ellipse">
            <a:avLst/>
          </a:prstGeom>
          <a:solidFill>
            <a:schemeClr val="accent3"/>
          </a:solidFill>
          <a:ln w="12700">
            <a:solidFill>
              <a:schemeClr val="accent3"/>
            </a:solidFill>
            <a:prstDash val="solid"/>
          </a:ln>
        </p:spPr>
      </p:sp>
      <p:sp>
        <p:nvSpPr>
          <p:cNvPr id="8" name="Badge 1 number"/>
          <p:cNvSpPr txBox="1"/>
          <p:nvPr/>
        </p:nvSpPr>
        <p:spPr>
          <a:xfrm>
            <a:off x="4882896" y="163677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Next text 1"/>
          <p:cNvSpPr txBox="1"/>
          <p:nvPr/>
        </p:nvSpPr>
        <p:spPr>
          <a:xfrm>
            <a:off x="5394960" y="1508760"/>
            <a:ext cx="3200400" cy="640080"/>
          </a:xfrm>
          <a:prstGeom prst="rect">
            <a:avLst/>
          </a:prstGeom>
          <a:noFill/>
          <a:ln/>
        </p:spPr>
        <p:txBody>
          <a:bodyPr wrap="square" lIns="0" tIns="0" rIns="0" bIns="0" rtlCol="0" anchor="ctr"/>
          <a:lstStyle/>
          <a:p>
            <a:pPr indent="0" marL="0">
              <a:buNone/>
            </a:pPr>
            <a:r>
              <a:rPr lang="en-US" sz="1400" dirty="0">
                <a:solidFill>
                  <a:schemeClr val="tx1"/>
                </a:solidFill>
              </a:rPr>
              <a:t>Time-stamped newswire or GDELT events for the market scope</a:t>
            </a:r>
            <a:endParaRPr lang="en-US" sz="1400" dirty="0"/>
          </a:p>
        </p:txBody>
      </p:sp>
      <p:sp>
        <p:nvSpPr>
          <p:cNvPr id="10" name="Next card 2"/>
          <p:cNvSpPr/>
          <p:nvPr/>
        </p:nvSpPr>
        <p:spPr>
          <a:xfrm>
            <a:off x="4754880" y="2267712"/>
            <a:ext cx="3931920" cy="640080"/>
          </a:xfrm>
          <a:prstGeom prst="roundRect">
            <a:avLst>
              <a:gd name="adj" fmla="val 11429"/>
            </a:avLst>
          </a:prstGeom>
          <a:solidFill>
            <a:schemeClr val="bg2"/>
          </a:solidFill>
          <a:ln w="12700">
            <a:solidFill>
              <a:schemeClr val="bg2"/>
            </a:solidFill>
            <a:prstDash val="solid"/>
          </a:ln>
        </p:spPr>
      </p:sp>
      <p:sp>
        <p:nvSpPr>
          <p:cNvPr id="11" name="Badge 2"/>
          <p:cNvSpPr/>
          <p:nvPr/>
        </p:nvSpPr>
        <p:spPr>
          <a:xfrm>
            <a:off x="4882896" y="2395728"/>
            <a:ext cx="384048" cy="384048"/>
          </a:xfrm>
          <a:prstGeom prst="ellipse">
            <a:avLst/>
          </a:prstGeom>
          <a:solidFill>
            <a:schemeClr val="accent3"/>
          </a:solidFill>
          <a:ln w="12700">
            <a:solidFill>
              <a:schemeClr val="accent3"/>
            </a:solidFill>
            <a:prstDash val="solid"/>
          </a:ln>
        </p:spPr>
      </p:sp>
      <p:sp>
        <p:nvSpPr>
          <p:cNvPr id="12" name="Badge 2 number"/>
          <p:cNvSpPr txBox="1"/>
          <p:nvPr/>
        </p:nvSpPr>
        <p:spPr>
          <a:xfrm>
            <a:off x="4882896" y="239572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Next text 2"/>
          <p:cNvSpPr txBox="1"/>
          <p:nvPr/>
        </p:nvSpPr>
        <p:spPr>
          <a:xfrm>
            <a:off x="5394960" y="2267712"/>
            <a:ext cx="3200400" cy="640080"/>
          </a:xfrm>
          <a:prstGeom prst="rect">
            <a:avLst/>
          </a:prstGeom>
          <a:noFill/>
          <a:ln/>
        </p:spPr>
        <p:txBody>
          <a:bodyPr wrap="square" lIns="0" tIns="0" rIns="0" bIns="0" rtlCol="0" anchor="ctr"/>
          <a:lstStyle/>
          <a:p>
            <a:pPr indent="0" marL="0">
              <a:buNone/>
            </a:pPr>
            <a:r>
              <a:rPr lang="en-US" sz="1400" dirty="0">
                <a:solidFill>
                  <a:schemeClr val="tx1"/>
                </a:solidFill>
              </a:rPr>
              <a:t>Sentiment per company inside one headline</a:t>
            </a:r>
            <a:endParaRPr lang="en-US" sz="1400" dirty="0"/>
          </a:p>
        </p:txBody>
      </p:sp>
      <p:sp>
        <p:nvSpPr>
          <p:cNvPr id="14" name="Next card 3"/>
          <p:cNvSpPr/>
          <p:nvPr/>
        </p:nvSpPr>
        <p:spPr>
          <a:xfrm>
            <a:off x="4754880" y="3026664"/>
            <a:ext cx="3931920" cy="640080"/>
          </a:xfrm>
          <a:prstGeom prst="roundRect">
            <a:avLst>
              <a:gd name="adj" fmla="val 11429"/>
            </a:avLst>
          </a:prstGeom>
          <a:solidFill>
            <a:schemeClr val="bg2"/>
          </a:solidFill>
          <a:ln w="12700">
            <a:solidFill>
              <a:schemeClr val="bg2"/>
            </a:solidFill>
            <a:prstDash val="solid"/>
          </a:ln>
        </p:spPr>
      </p:sp>
      <p:sp>
        <p:nvSpPr>
          <p:cNvPr id="15" name="Badge 3"/>
          <p:cNvSpPr/>
          <p:nvPr/>
        </p:nvSpPr>
        <p:spPr>
          <a:xfrm>
            <a:off x="4882896" y="3154680"/>
            <a:ext cx="384048" cy="384048"/>
          </a:xfrm>
          <a:prstGeom prst="ellipse">
            <a:avLst/>
          </a:prstGeom>
          <a:solidFill>
            <a:schemeClr val="accent3"/>
          </a:solidFill>
          <a:ln w="12700">
            <a:solidFill>
              <a:schemeClr val="accent3"/>
            </a:solidFill>
            <a:prstDash val="solid"/>
          </a:ln>
        </p:spPr>
      </p:sp>
      <p:sp>
        <p:nvSpPr>
          <p:cNvPr id="16" name="Badge 3 number"/>
          <p:cNvSpPr txBox="1"/>
          <p:nvPr/>
        </p:nvSpPr>
        <p:spPr>
          <a:xfrm>
            <a:off x="4882896" y="31546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Next text 3"/>
          <p:cNvSpPr txBox="1"/>
          <p:nvPr/>
        </p:nvSpPr>
        <p:spPr>
          <a:xfrm>
            <a:off x="5394960" y="3026664"/>
            <a:ext cx="3200400" cy="640080"/>
          </a:xfrm>
          <a:prstGeom prst="rect">
            <a:avLst/>
          </a:prstGeom>
          <a:noFill/>
          <a:ln/>
        </p:spPr>
        <p:txBody>
          <a:bodyPr wrap="square" lIns="0" tIns="0" rIns="0" bIns="0" rtlCol="0" anchor="ctr"/>
          <a:lstStyle/>
          <a:p>
            <a:pPr indent="0" marL="0">
              <a:buNone/>
            </a:pPr>
            <a:r>
              <a:rPr lang="en-US" sz="1400" dirty="0">
                <a:solidFill>
                  <a:schemeClr val="tx1"/>
                </a:solidFill>
              </a:rPr>
              <a:t>A continuous live poller, so attention is measured on live data</a:t>
            </a:r>
            <a:endParaRPr lang="en-US" sz="1400" dirty="0"/>
          </a:p>
        </p:txBody>
      </p:sp>
      <p:sp>
        <p:nvSpPr>
          <p:cNvPr id="18" name="Next card 4"/>
          <p:cNvSpPr/>
          <p:nvPr/>
        </p:nvSpPr>
        <p:spPr>
          <a:xfrm>
            <a:off x="4754880" y="3785616"/>
            <a:ext cx="3931920" cy="640080"/>
          </a:xfrm>
          <a:prstGeom prst="roundRect">
            <a:avLst>
              <a:gd name="adj" fmla="val 11429"/>
            </a:avLst>
          </a:prstGeom>
          <a:solidFill>
            <a:schemeClr val="bg2"/>
          </a:solidFill>
          <a:ln w="12700">
            <a:solidFill>
              <a:schemeClr val="bg2"/>
            </a:solidFill>
            <a:prstDash val="solid"/>
          </a:ln>
        </p:spPr>
      </p:sp>
      <p:sp>
        <p:nvSpPr>
          <p:cNvPr id="19" name="Badge 4"/>
          <p:cNvSpPr/>
          <p:nvPr/>
        </p:nvSpPr>
        <p:spPr>
          <a:xfrm>
            <a:off x="4882896" y="3913632"/>
            <a:ext cx="384048" cy="384048"/>
          </a:xfrm>
          <a:prstGeom prst="ellipse">
            <a:avLst/>
          </a:prstGeom>
          <a:solidFill>
            <a:schemeClr val="accent3"/>
          </a:solidFill>
          <a:ln w="12700">
            <a:solidFill>
              <a:schemeClr val="accent3"/>
            </a:solidFill>
            <a:prstDash val="solid"/>
          </a:ln>
        </p:spPr>
      </p:sp>
      <p:sp>
        <p:nvSpPr>
          <p:cNvPr id="20" name="Badge 4 number"/>
          <p:cNvSpPr txBox="1"/>
          <p:nvPr/>
        </p:nvSpPr>
        <p:spPr>
          <a:xfrm>
            <a:off x="4882896" y="391363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Next text 4"/>
          <p:cNvSpPr txBox="1"/>
          <p:nvPr/>
        </p:nvSpPr>
        <p:spPr>
          <a:xfrm>
            <a:off x="5394960" y="3785616"/>
            <a:ext cx="3200400" cy="640080"/>
          </a:xfrm>
          <a:prstGeom prst="rect">
            <a:avLst/>
          </a:prstGeom>
          <a:noFill/>
          <a:ln/>
        </p:spPr>
        <p:txBody>
          <a:bodyPr wrap="square" lIns="0" tIns="0" rIns="0" bIns="0" rtlCol="0" anchor="ctr"/>
          <a:lstStyle/>
          <a:p>
            <a:pPr indent="0" marL="0">
              <a:buNone/>
            </a:pPr>
            <a:r>
              <a:rPr lang="en-US" sz="1400" dirty="0">
                <a:solidFill>
                  <a:schemeClr val="tx1"/>
                </a:solidFill>
              </a:rPr>
              <a:t>Rating migration and correlated shocks in the stress engine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Risk Engine">
  <a:themeElements>
    <a:clrScheme name="Risk Engine">
      <a:dk1>
        <a:srgbClr val="101A2E"/>
      </a:dk1>
      <a:lt1>
        <a:srgbClr val="FFFFFF"/>
      </a:lt1>
      <a:dk2>
        <a:srgbClr val="3D4A63"/>
      </a:dk2>
      <a:lt2>
        <a:srgbClr val="EEF2F8"/>
      </a:lt2>
      <a:accent1>
        <a:srgbClr val="1F5FB8"/>
      </a:accent1>
      <a:accent2>
        <a:srgbClr val="D9482B"/>
      </a:accent2>
      <a:accent3>
        <a:srgbClr val="0E8F6E"/>
      </a:accent3>
      <a:accent4>
        <a:srgbClr val="C98500"/>
      </a:accent4>
      <a:accent5>
        <a:srgbClr val="6B7A99"/>
      </a:accent5>
      <a:accent6>
        <a:srgbClr val="0B1324"/>
      </a:accent6>
      <a:hlink>
        <a:srgbClr val="1F5FB8"/>
      </a:hlink>
      <a:folHlink>
        <a:srgbClr val="6B7A99"/>
      </a:folHlink>
    </a:clrScheme>
    <a:fontScheme name="Risk Eng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AI/NLP Financial Risk Engine</dc:title>
  <dc:subject>PptxGenJS Presentation</dc:subject>
  <dc:creator>[Your Full Name]</dc:creator>
  <cp:lastModifiedBy>[Your Full Name]</cp:lastModifiedBy>
  <cp:revision>1</cp:revision>
  <dcterms:created xsi:type="dcterms:W3CDTF">2026-10-04T16:59:49Z</dcterms:created>
  <dcterms:modified xsi:type="dcterms:W3CDTF">2026-10-04T16:59:49Z</dcterms:modified>
</cp:coreProperties>
</file>